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principal : notre outil de supervision est une application web légère qui tient entièrement dans un seul conteneur Docker, lancé sur le poste du technicien. Le schéma se lit en deux flux. En haut, en bleu, la consultation : le technicien ouvre son navigateur, qui parle en HTTP à l'application FastAPI. FastAPI sert les pages web (rendues avec Jinja2), une petite API JSON, et les graphiques Chart.js ; elle lit et écrit dans la base SQLite. En bas, en orange, la collecte : le service de collecte, planifié par APScheduler, interroge les équipements réseau en SNMP v2c (UDP 161) grâce à PySNMP, puis historise les mesures dans la même base SQLite. À droite, la pile technique : tout est en Python, avec des briques matures et bien documentées. SQLite évite d'installer et d'administrer un serveur de base de données ; Docker rend l'outil identique sur nos deux postes (Windows, macOS ou Linux). En bas, le cycle de collecte, répété pour chaque équipement à son intervalle : on planifie, on interroge les OID définis par le modèle de supervision de l'équipement (ils varient selon le constructeur pour le CPU ou la mémoire), on contrôle la réponse, on calcule si besoin une valeur dérivée (une charge CPU, une température ou un uptime sont gardés tels quels, mais un compteur d'octets doit être converti en débit à partir de l'écart entre deux relevés), on compare aux seuils pour lever les alertes, et on historise — les vieilles mesures sont ensuite agrégées par heure puis purgées. Choix assumés : une application unique (plutôt que plusieurs services séparés), dimensionnée pour un projet de 32 heures, et pas d'authentification dans cette première version, donc à utiliser uniquement sur un réseau de confiance.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1"/>
        </a:solidFill>
      </p:bgPr>
    </p:bg>
    <p:spTree>
      <p:nvGrpSpPr>
        <p:cNvPr id="1" name=""/>
        <p:cNvGrpSpPr/>
        <p:nvPr/>
      </p:nvGrpSpPr>
      <p:grpSpPr>
        <a:xfrm>
          <a:off x="0" y="0"/>
          <a:ext cx="0" cy="0"/>
          <a:chOff x="0" y="0"/>
          <a:chExt cx="0" cy="0"/>
        </a:xfrm>
      </p:grpSpPr>
      <p:sp>
        <p:nvSpPr>
          <p:cNvPr id="2" name="Title Placeholder 1"/>
          <p:cNvSpPr/>
          <p:nvPr>
            <p:ph type="title"/>
          </p:nvPr>
        </p:nvSpPr>
        <p:spPr>
          <a:xfrm>
            <a:off x="558800" y="721320"/>
            <a:ext cx="11074400" cy="408880"/>
          </a:xfrm>
          <a:prstGeom prst="rect">
            <a:avLst/>
          </a:prstGeom>
          <a:noFill/>
          <a:ln/>
        </p:spPr>
        <p:txBody>
          <a:bodyPr wrap="square" lIns="0" tIns="0" rIns="0" bIns="0" rtlCol="0" anchor="t"/>
          <a:lstStyle>
            <a:lvl1pPr algn="l" indent="0" marL="0">
              <a:lnSpc>
                <a:spcPct val="115000"/>
              </a:lnSpc>
              <a:buNone/>
              <a:defRPr lang="en-US" sz="2800" dirty="0">
                <a:solidFill>
                  <a:srgbClr val="13233A"/>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558800" y="1435001"/>
            <a:ext cx="10820400" cy="4610199"/>
          </a:xfrm>
          <a:prstGeom prst="rect">
            <a:avLst/>
          </a:prstGeom>
          <a:noFill/>
          <a:ln/>
        </p:spPr>
        <p:txBody>
          <a:bodyPr wrap="square" lIns="0" tIns="0" rIns="0" bIns="0" rtlCol="0" anchor="t"/>
          <a:lstStyle>
            <a:lvl1pPr algn="l" indent="0" marL="0">
              <a:lnSpc>
                <a:spcPct val="140000"/>
              </a:lnSpc>
              <a:buNone/>
              <a:defRPr lang="en-US" sz="1600" dirty="0">
                <a:solidFill>
                  <a:srgbClr val="13233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1"/>
        </a:solidFill>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image" Target="../media/image-1-15.png"/><Relationship Id="rId16" Type="http://schemas.openxmlformats.org/officeDocument/2006/relationships/image" Target="../media/image-1-16.png"/><Relationship Id="rId17" Type="http://schemas.openxmlformats.org/officeDocument/2006/relationships/image" Target="../media/image-1-17.png"/><Relationship Id="rId18" Type="http://schemas.openxmlformats.org/officeDocument/2006/relationships/slideLayout" Target="../slideLayouts/slideLayout2.xml"/><Relationship Id="rId19"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58800" y="457200"/>
            <a:ext cx="1140663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07F"/>
                </a:solidFill>
                <a:latin typeface="IBM Plex Sans" pitchFamily="34" charset="0"/>
                <a:ea typeface="IBM Plex Sans" pitchFamily="34" charset="-122"/>
                <a:cs typeface="IBM Plex Sans" pitchFamily="34" charset="-120"/>
              </a:rPr>
              <a:t>ETRS011 · SUPERVISION RÉSEAU SNMP · PROPOSITION TECHNIQUE</a:t>
            </a:r>
            <a:endParaRPr lang="en-US" sz="1200" dirty="0"/>
          </a:p>
        </p:txBody>
      </p:sp>
      <p:sp>
        <p:nvSpPr>
          <p:cNvPr id="3" name="Text 1"/>
          <p:cNvSpPr/>
          <p:nvPr>
            <p:ph type="title"/>
          </p:nvPr>
        </p:nvSpPr>
        <p:spPr>
          <a:xfrm>
            <a:off x="558800" y="721320"/>
            <a:ext cx="11406632" cy="434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3233A"/>
                </a:solidFill>
                <a:latin typeface="IBM Plex Sans" pitchFamily="34" charset="0"/>
                <a:ea typeface="IBM Plex Sans" pitchFamily="34" charset="-122"/>
                <a:cs typeface="IBM Plex Sans" pitchFamily="34" charset="-120"/>
              </a:rPr>
              <a:t>Un outil web léger, dans un seul conteneur Docker</a:t>
            </a:r>
            <a:endParaRPr lang="en-US" sz="2800" dirty="0"/>
          </a:p>
        </p:txBody>
      </p:sp>
      <p:sp>
        <p:nvSpPr>
          <p:cNvPr id="4" name="Shape 2"/>
          <p:cNvSpPr/>
          <p:nvPr/>
        </p:nvSpPr>
        <p:spPr>
          <a:xfrm>
            <a:off x="2470150" y="1288951"/>
            <a:ext cx="3416300" cy="3162300"/>
          </a:xfrm>
          <a:prstGeom prst="roundRect">
            <a:avLst>
              <a:gd name="adj" fmla="val 3815"/>
            </a:avLst>
          </a:prstGeom>
          <a:solidFill>
            <a:srgbClr val="E9F0F1"/>
          </a:solidFill>
          <a:ln w="12700">
            <a:solidFill>
              <a:srgbClr val="9DB8BD"/>
            </a:solidFill>
            <a:prstDash val="solid"/>
          </a:ln>
        </p:spPr>
      </p:sp>
      <p:sp>
        <p:nvSpPr>
          <p:cNvPr id="5" name="Text 3"/>
          <p:cNvSpPr/>
          <p:nvPr/>
        </p:nvSpPr>
        <p:spPr>
          <a:xfrm>
            <a:off x="2717800" y="1371501"/>
            <a:ext cx="3008630"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7707F"/>
                </a:solidFill>
                <a:latin typeface="IBM Plex Sans" pitchFamily="34" charset="0"/>
                <a:ea typeface="IBM Plex Sans" pitchFamily="34" charset="-122"/>
                <a:cs typeface="IBM Plex Sans" pitchFamily="34" charset="-120"/>
              </a:rPr>
              <a:t>CONTENEUR DOCKER UNIQUE</a:t>
            </a:r>
            <a:endParaRPr lang="en-US" sz="1200" dirty="0"/>
          </a:p>
        </p:txBody>
      </p:sp>
      <p:sp>
        <p:nvSpPr>
          <p:cNvPr id="6" name="Shape 4"/>
          <p:cNvSpPr/>
          <p:nvPr/>
        </p:nvSpPr>
        <p:spPr>
          <a:xfrm>
            <a:off x="565150" y="1301651"/>
            <a:ext cx="1257300" cy="1358900"/>
          </a:xfrm>
          <a:prstGeom prst="roundRect">
            <a:avLst>
              <a:gd name="adj" fmla="val 6566"/>
            </a:avLst>
          </a:prstGeom>
          <a:solidFill>
            <a:srgbClr val="FDFCFA"/>
          </a:solidFill>
          <a:ln w="12700">
            <a:solidFill>
              <a:srgbClr val="17707F"/>
            </a:solidFill>
            <a:prstDash val="solid"/>
          </a:ln>
        </p:spPr>
      </p:sp>
      <p:pic>
        <p:nvPicPr>
          <p:cNvPr id="7" name="Image 0" descr="Un technicien assis devant un écran affichant une courbe de supervision">    </p:cNvPr>
          <p:cNvPicPr>
            <a:picLocks noChangeAspect="1"/>
          </p:cNvPicPr>
          <p:nvPr/>
        </p:nvPicPr>
        <p:blipFill>
          <a:blip r:embed="rId1"/>
          <a:srcRect l="0" r="0" t="0" b="0"/>
          <a:stretch/>
        </p:blipFill>
        <p:spPr>
          <a:xfrm>
            <a:off x="673100" y="1403251"/>
            <a:ext cx="1066800" cy="685800"/>
          </a:xfrm>
          <a:prstGeom prst="rect">
            <a:avLst/>
          </a:prstGeom>
        </p:spPr>
      </p:pic>
      <p:sp>
        <p:nvSpPr>
          <p:cNvPr id="8" name="Text 5"/>
          <p:cNvSpPr/>
          <p:nvPr/>
        </p:nvSpPr>
        <p:spPr>
          <a:xfrm>
            <a:off x="673100" y="2101751"/>
            <a:ext cx="10922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33A"/>
                </a:solidFill>
                <a:latin typeface="IBM Plex Sans" pitchFamily="34" charset="0"/>
                <a:ea typeface="IBM Plex Sans" pitchFamily="34" charset="-122"/>
                <a:cs typeface="IBM Plex Sans" pitchFamily="34" charset="-120"/>
              </a:rPr>
              <a:t>Navigateur</a:t>
            </a:r>
            <a:endParaRPr lang="en-US" sz="1300" dirty="0"/>
          </a:p>
        </p:txBody>
      </p:sp>
      <p:sp>
        <p:nvSpPr>
          <p:cNvPr id="9" name="Text 6"/>
          <p:cNvSpPr/>
          <p:nvPr/>
        </p:nvSpPr>
        <p:spPr>
          <a:xfrm>
            <a:off x="673100" y="2345531"/>
            <a:ext cx="1092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B5E"/>
                </a:solidFill>
                <a:latin typeface="IBM Plex Sans" pitchFamily="34" charset="0"/>
                <a:ea typeface="IBM Plex Sans" pitchFamily="34" charset="-122"/>
                <a:cs typeface="IBM Plex Sans" pitchFamily="34" charset="-120"/>
              </a:rPr>
              <a:t>du technicien</a:t>
            </a:r>
            <a:endParaRPr lang="en-US" sz="1200" dirty="0"/>
          </a:p>
        </p:txBody>
      </p:sp>
      <p:sp>
        <p:nvSpPr>
          <p:cNvPr id="10" name="Shape 7"/>
          <p:cNvSpPr/>
          <p:nvPr/>
        </p:nvSpPr>
        <p:spPr>
          <a:xfrm>
            <a:off x="2724150" y="1669951"/>
            <a:ext cx="2908300" cy="622300"/>
          </a:xfrm>
          <a:prstGeom prst="roundRect">
            <a:avLst>
              <a:gd name="adj" fmla="val 13265"/>
            </a:avLst>
          </a:prstGeom>
          <a:solidFill>
            <a:srgbClr val="FDFCFA"/>
          </a:solidFill>
          <a:ln w="12700">
            <a:solidFill>
              <a:srgbClr val="17707F"/>
            </a:solidFill>
            <a:prstDash val="solid"/>
          </a:ln>
        </p:spPr>
      </p:sp>
      <p:sp>
        <p:nvSpPr>
          <p:cNvPr id="11" name="Text 8"/>
          <p:cNvSpPr/>
          <p:nvPr/>
        </p:nvSpPr>
        <p:spPr>
          <a:xfrm>
            <a:off x="2857500" y="1752501"/>
            <a:ext cx="272084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33A"/>
                </a:solidFill>
                <a:latin typeface="IBM Plex Sans" pitchFamily="34" charset="0"/>
                <a:ea typeface="IBM Plex Sans" pitchFamily="34" charset="-122"/>
                <a:cs typeface="IBM Plex Sans" pitchFamily="34" charset="-120"/>
              </a:rPr>
              <a:t>Application web FastAPI</a:t>
            </a:r>
            <a:endParaRPr lang="en-US" sz="1300" dirty="0"/>
          </a:p>
        </p:txBody>
      </p:sp>
      <p:sp>
        <p:nvSpPr>
          <p:cNvPr id="12" name="Text 9"/>
          <p:cNvSpPr/>
          <p:nvPr/>
        </p:nvSpPr>
        <p:spPr>
          <a:xfrm>
            <a:off x="2857500" y="1996281"/>
            <a:ext cx="27208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B5E"/>
                </a:solidFill>
                <a:latin typeface="IBM Plex Sans" pitchFamily="34" charset="0"/>
                <a:ea typeface="IBM Plex Sans" pitchFamily="34" charset="-122"/>
                <a:cs typeface="IBM Plex Sans" pitchFamily="34" charset="-120"/>
              </a:rPr>
              <a:t>pages Jinja2 · API JSON · Chart.js</a:t>
            </a:r>
            <a:endParaRPr lang="en-US" sz="1200" dirty="0"/>
          </a:p>
        </p:txBody>
      </p:sp>
      <p:sp>
        <p:nvSpPr>
          <p:cNvPr id="13" name="Shape 10"/>
          <p:cNvSpPr/>
          <p:nvPr/>
        </p:nvSpPr>
        <p:spPr>
          <a:xfrm>
            <a:off x="2724150" y="2590701"/>
            <a:ext cx="2908300" cy="590550"/>
          </a:xfrm>
          <a:prstGeom prst="roundRect">
            <a:avLst>
              <a:gd name="adj" fmla="val 13978"/>
            </a:avLst>
          </a:prstGeom>
          <a:solidFill>
            <a:srgbClr val="FDFCFA"/>
          </a:solidFill>
          <a:ln w="12700">
            <a:solidFill>
              <a:srgbClr val="7C8B99"/>
            </a:solidFill>
            <a:prstDash val="solid"/>
          </a:ln>
        </p:spPr>
      </p:sp>
      <p:sp>
        <p:nvSpPr>
          <p:cNvPr id="14" name="Text 11"/>
          <p:cNvSpPr/>
          <p:nvPr/>
        </p:nvSpPr>
        <p:spPr>
          <a:xfrm>
            <a:off x="2857500" y="2660551"/>
            <a:ext cx="2720848" cy="253206"/>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33A"/>
                </a:solidFill>
                <a:latin typeface="IBM Plex Sans" pitchFamily="34" charset="0"/>
                <a:ea typeface="IBM Plex Sans" pitchFamily="34" charset="-122"/>
                <a:cs typeface="IBM Plex Sans" pitchFamily="34" charset="-120"/>
              </a:rPr>
              <a:t>Base SQLite</a:t>
            </a:r>
            <a:endParaRPr lang="en-US" sz="1300" dirty="0"/>
          </a:p>
        </p:txBody>
      </p:sp>
      <p:sp>
        <p:nvSpPr>
          <p:cNvPr id="15" name="Text 12"/>
          <p:cNvSpPr/>
          <p:nvPr/>
        </p:nvSpPr>
        <p:spPr>
          <a:xfrm>
            <a:off x="2857500" y="2901057"/>
            <a:ext cx="2720848" cy="235744"/>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3E4B5E"/>
                </a:solidFill>
                <a:latin typeface="IBM Plex Sans" pitchFamily="34" charset="0"/>
                <a:ea typeface="IBM Plex Sans" pitchFamily="34" charset="-122"/>
                <a:cs typeface="IBM Plex Sans" pitchFamily="34" charset="-120"/>
              </a:rPr>
              <a:t>inventaire · mesures · alertes</a:t>
            </a:r>
            <a:endParaRPr lang="en-US" sz="1196" dirty="0"/>
          </a:p>
        </p:txBody>
      </p:sp>
      <p:sp>
        <p:nvSpPr>
          <p:cNvPr id="16" name="Shape 13"/>
          <p:cNvSpPr/>
          <p:nvPr/>
        </p:nvSpPr>
        <p:spPr>
          <a:xfrm>
            <a:off x="2724150" y="3479701"/>
            <a:ext cx="2908300" cy="622300"/>
          </a:xfrm>
          <a:prstGeom prst="roundRect">
            <a:avLst>
              <a:gd name="adj" fmla="val 13265"/>
            </a:avLst>
          </a:prstGeom>
          <a:solidFill>
            <a:srgbClr val="FDFCFA"/>
          </a:solidFill>
          <a:ln w="12700">
            <a:solidFill>
              <a:srgbClr val="B45514"/>
            </a:solidFill>
            <a:prstDash val="solid"/>
          </a:ln>
        </p:spPr>
      </p:sp>
      <p:sp>
        <p:nvSpPr>
          <p:cNvPr id="17" name="Text 14"/>
          <p:cNvSpPr/>
          <p:nvPr/>
        </p:nvSpPr>
        <p:spPr>
          <a:xfrm>
            <a:off x="2857500" y="3562251"/>
            <a:ext cx="272084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33A"/>
                </a:solidFill>
                <a:latin typeface="IBM Plex Sans" pitchFamily="34" charset="0"/>
                <a:ea typeface="IBM Plex Sans" pitchFamily="34" charset="-122"/>
                <a:cs typeface="IBM Plex Sans" pitchFamily="34" charset="-120"/>
              </a:rPr>
              <a:t>Service de collecte SNMP</a:t>
            </a:r>
            <a:endParaRPr lang="en-US" sz="1300" dirty="0"/>
          </a:p>
        </p:txBody>
      </p:sp>
      <p:sp>
        <p:nvSpPr>
          <p:cNvPr id="18" name="Text 15"/>
          <p:cNvSpPr/>
          <p:nvPr/>
        </p:nvSpPr>
        <p:spPr>
          <a:xfrm>
            <a:off x="2857500" y="3806031"/>
            <a:ext cx="27208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B5E"/>
                </a:solidFill>
                <a:latin typeface="IBM Plex Sans" pitchFamily="34" charset="0"/>
                <a:ea typeface="IBM Plex Sans" pitchFamily="34" charset="-122"/>
                <a:cs typeface="IBM Plex Sans" pitchFamily="34" charset="-120"/>
              </a:rPr>
              <a:t>APScheduler + PySNMP</a:t>
            </a:r>
            <a:endParaRPr lang="en-US" sz="1200" dirty="0"/>
          </a:p>
        </p:txBody>
      </p:sp>
      <p:sp>
        <p:nvSpPr>
          <p:cNvPr id="19" name="Shape 16"/>
          <p:cNvSpPr/>
          <p:nvPr/>
        </p:nvSpPr>
        <p:spPr>
          <a:xfrm>
            <a:off x="6724650" y="2927251"/>
            <a:ext cx="1320800" cy="1524000"/>
          </a:xfrm>
          <a:prstGeom prst="roundRect">
            <a:avLst>
              <a:gd name="adj" fmla="val 6250"/>
            </a:avLst>
          </a:prstGeom>
          <a:solidFill>
            <a:srgbClr val="FDFCFA"/>
          </a:solidFill>
          <a:ln w="12700">
            <a:solidFill>
              <a:srgbClr val="B45514"/>
            </a:solidFill>
            <a:prstDash val="solid"/>
          </a:ln>
        </p:spPr>
      </p:sp>
      <p:pic>
        <p:nvPicPr>
          <p:cNvPr id="20" name="Image 1" descr="Un routeur à antennes relié à un switch réseau">    </p:cNvPr>
          <p:cNvPicPr>
            <a:picLocks noChangeAspect="1"/>
          </p:cNvPicPr>
          <p:nvPr/>
        </p:nvPicPr>
        <p:blipFill>
          <a:blip r:embed="rId2"/>
          <a:srcRect l="-379" r="-379" t="0" b="0"/>
          <a:stretch/>
        </p:blipFill>
        <p:spPr>
          <a:xfrm>
            <a:off x="6832600" y="3009801"/>
            <a:ext cx="1130300" cy="680641"/>
          </a:xfrm>
          <a:prstGeom prst="rect">
            <a:avLst/>
          </a:prstGeom>
        </p:spPr>
      </p:pic>
      <p:sp>
        <p:nvSpPr>
          <p:cNvPr id="21" name="Text 17"/>
          <p:cNvSpPr/>
          <p:nvPr/>
        </p:nvSpPr>
        <p:spPr>
          <a:xfrm>
            <a:off x="6832600" y="3703141"/>
            <a:ext cx="1155700" cy="25479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33A"/>
                </a:solidFill>
                <a:latin typeface="IBM Plex Sans" pitchFamily="34" charset="0"/>
                <a:ea typeface="IBM Plex Sans" pitchFamily="34" charset="-122"/>
                <a:cs typeface="IBM Plex Sans" pitchFamily="34" charset="-120"/>
              </a:rPr>
              <a:t>Équipements</a:t>
            </a:r>
            <a:endParaRPr lang="en-US" sz="1300" dirty="0"/>
          </a:p>
        </p:txBody>
      </p:sp>
      <p:sp>
        <p:nvSpPr>
          <p:cNvPr id="22" name="Text 18"/>
          <p:cNvSpPr/>
          <p:nvPr/>
        </p:nvSpPr>
        <p:spPr>
          <a:xfrm>
            <a:off x="6832600" y="3945235"/>
            <a:ext cx="1155700" cy="44886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B5E"/>
                </a:solidFill>
                <a:latin typeface="IBM Plex Sans" pitchFamily="34" charset="0"/>
                <a:ea typeface="IBM Plex Sans" pitchFamily="34" charset="-122"/>
                <a:cs typeface="IBM Plex Sans" pitchFamily="34" charset="-120"/>
              </a:rPr>
              <a:t>réseau, agents SNMP</a:t>
            </a:r>
            <a:endParaRPr lang="en-US" sz="1200" dirty="0"/>
          </a:p>
        </p:txBody>
      </p:sp>
      <p:pic>
        <p:nvPicPr>
          <p:cNvPr id="23" name="Image 2" descr="connector">    </p:cNvPr>
          <p:cNvPicPr>
            <a:picLocks noChangeAspect="1"/>
          </p:cNvPicPr>
          <p:nvPr/>
        </p:nvPicPr>
        <p:blipFill>
          <a:blip r:embed="rId3"/>
          <a:srcRect l="0" r="0" t="0" b="0"/>
          <a:stretch/>
        </p:blipFill>
        <p:spPr>
          <a:xfrm>
            <a:off x="1778000" y="1930301"/>
            <a:ext cx="990600" cy="101600"/>
          </a:xfrm>
          <a:prstGeom prst="rect">
            <a:avLst/>
          </a:prstGeom>
        </p:spPr>
      </p:pic>
      <p:pic>
        <p:nvPicPr>
          <p:cNvPr id="24" name="Image 3" descr="connector">    </p:cNvPr>
          <p:cNvPicPr>
            <a:picLocks noChangeAspect="1"/>
          </p:cNvPicPr>
          <p:nvPr/>
        </p:nvPicPr>
        <p:blipFill>
          <a:blip r:embed="rId4"/>
          <a:srcRect l="0" r="0" t="0" b="0"/>
          <a:stretch/>
        </p:blipFill>
        <p:spPr>
          <a:xfrm>
            <a:off x="4127500" y="2247801"/>
            <a:ext cx="101600" cy="387350"/>
          </a:xfrm>
          <a:prstGeom prst="rect">
            <a:avLst/>
          </a:prstGeom>
        </p:spPr>
      </p:pic>
      <p:pic>
        <p:nvPicPr>
          <p:cNvPr id="25" name="Image 4" descr="connector">    </p:cNvPr>
          <p:cNvPicPr>
            <a:picLocks noChangeAspect="1"/>
          </p:cNvPicPr>
          <p:nvPr/>
        </p:nvPicPr>
        <p:blipFill>
          <a:blip r:embed="rId5"/>
          <a:srcRect l="0" r="0" t="0" b="0"/>
          <a:stretch/>
        </p:blipFill>
        <p:spPr>
          <a:xfrm>
            <a:off x="4127500" y="3136801"/>
            <a:ext cx="101600" cy="387350"/>
          </a:xfrm>
          <a:prstGeom prst="rect">
            <a:avLst/>
          </a:prstGeom>
        </p:spPr>
      </p:pic>
      <p:pic>
        <p:nvPicPr>
          <p:cNvPr id="26" name="Image 5" descr="connector">    </p:cNvPr>
          <p:cNvPicPr>
            <a:picLocks noChangeAspect="1"/>
          </p:cNvPicPr>
          <p:nvPr/>
        </p:nvPicPr>
        <p:blipFill>
          <a:blip r:embed="rId6"/>
          <a:srcRect l="0" r="0" t="0" b="0"/>
          <a:stretch/>
        </p:blipFill>
        <p:spPr>
          <a:xfrm>
            <a:off x="5588000" y="3740051"/>
            <a:ext cx="1181100" cy="101600"/>
          </a:xfrm>
          <a:prstGeom prst="rect">
            <a:avLst/>
          </a:prstGeom>
        </p:spPr>
      </p:pic>
      <p:sp>
        <p:nvSpPr>
          <p:cNvPr id="27" name="Text 19"/>
          <p:cNvSpPr/>
          <p:nvPr/>
        </p:nvSpPr>
        <p:spPr>
          <a:xfrm>
            <a:off x="1835150" y="1701701"/>
            <a:ext cx="6223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7707F"/>
                </a:solidFill>
                <a:latin typeface="IBM Plex Sans" pitchFamily="34" charset="0"/>
                <a:ea typeface="IBM Plex Sans" pitchFamily="34" charset="-122"/>
                <a:cs typeface="IBM Plex Sans" pitchFamily="34" charset="-120"/>
              </a:rPr>
              <a:t>HTTP</a:t>
            </a:r>
            <a:endParaRPr lang="en-US" sz="1200" dirty="0"/>
          </a:p>
        </p:txBody>
      </p:sp>
      <p:sp>
        <p:nvSpPr>
          <p:cNvPr id="28" name="Text 20"/>
          <p:cNvSpPr/>
          <p:nvPr/>
        </p:nvSpPr>
        <p:spPr>
          <a:xfrm>
            <a:off x="4305300" y="2336701"/>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707F"/>
                </a:solidFill>
                <a:latin typeface="IBM Plex Sans" pitchFamily="34" charset="0"/>
                <a:ea typeface="IBM Plex Sans" pitchFamily="34" charset="-122"/>
                <a:cs typeface="IBM Plex Sans" pitchFamily="34" charset="-120"/>
              </a:rPr>
              <a:t>lit · écrit</a:t>
            </a:r>
            <a:endParaRPr lang="en-US" sz="1200" dirty="0"/>
          </a:p>
        </p:txBody>
      </p:sp>
      <p:sp>
        <p:nvSpPr>
          <p:cNvPr id="29" name="Text 21"/>
          <p:cNvSpPr/>
          <p:nvPr/>
        </p:nvSpPr>
        <p:spPr>
          <a:xfrm>
            <a:off x="4305300" y="3225701"/>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45514"/>
                </a:solidFill>
                <a:latin typeface="IBM Plex Sans" pitchFamily="34" charset="0"/>
                <a:ea typeface="IBM Plex Sans" pitchFamily="34" charset="-122"/>
                <a:cs typeface="IBM Plex Sans" pitchFamily="34" charset="-120"/>
              </a:rPr>
              <a:t>historise</a:t>
            </a:r>
            <a:endParaRPr lang="en-US" sz="1200" dirty="0"/>
          </a:p>
        </p:txBody>
      </p:sp>
      <p:sp>
        <p:nvSpPr>
          <p:cNvPr id="30" name="Text 22"/>
          <p:cNvSpPr/>
          <p:nvPr/>
        </p:nvSpPr>
        <p:spPr>
          <a:xfrm>
            <a:off x="5905500" y="3511451"/>
            <a:ext cx="812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B45514"/>
                </a:solidFill>
                <a:latin typeface="IBM Plex Sans" pitchFamily="34" charset="0"/>
                <a:ea typeface="IBM Plex Sans" pitchFamily="34" charset="-122"/>
                <a:cs typeface="IBM Plex Sans" pitchFamily="34" charset="-120"/>
              </a:rPr>
              <a:t>SNMP v2c</a:t>
            </a:r>
            <a:endParaRPr lang="en-US" sz="1200" dirty="0"/>
          </a:p>
        </p:txBody>
      </p:sp>
      <p:sp>
        <p:nvSpPr>
          <p:cNvPr id="31" name="Text 23"/>
          <p:cNvSpPr/>
          <p:nvPr/>
        </p:nvSpPr>
        <p:spPr>
          <a:xfrm>
            <a:off x="5905500" y="3854351"/>
            <a:ext cx="812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B45514"/>
                </a:solidFill>
                <a:latin typeface="IBM Plex Sans" pitchFamily="34" charset="0"/>
                <a:ea typeface="IBM Plex Sans" pitchFamily="34" charset="-122"/>
                <a:cs typeface="IBM Plex Sans" pitchFamily="34" charset="-120"/>
              </a:rPr>
              <a:t>UDP 161</a:t>
            </a:r>
            <a:endParaRPr lang="en-US" sz="1200" dirty="0"/>
          </a:p>
        </p:txBody>
      </p:sp>
      <p:sp>
        <p:nvSpPr>
          <p:cNvPr id="32" name="Text 24"/>
          <p:cNvSpPr/>
          <p:nvPr/>
        </p:nvSpPr>
        <p:spPr>
          <a:xfrm>
            <a:off x="8356600" y="1282601"/>
            <a:ext cx="337489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33A"/>
                </a:solidFill>
                <a:latin typeface="IBM Plex Sans" pitchFamily="34" charset="0"/>
                <a:ea typeface="IBM Plex Sans" pitchFamily="34" charset="-122"/>
                <a:cs typeface="IBM Plex Sans" pitchFamily="34" charset="-120"/>
              </a:rPr>
              <a:t>Pile technique</a:t>
            </a:r>
            <a:endParaRPr lang="en-US" sz="1600" dirty="0"/>
          </a:p>
        </p:txBody>
      </p:sp>
      <p:sp>
        <p:nvSpPr>
          <p:cNvPr id="33" name="Shape 25"/>
          <p:cNvSpPr/>
          <p:nvPr/>
        </p:nvSpPr>
        <p:spPr>
          <a:xfrm>
            <a:off x="8356600" y="2050256"/>
            <a:ext cx="3276600" cy="0"/>
          </a:xfrm>
          <a:prstGeom prst="line">
            <a:avLst/>
          </a:prstGeom>
          <a:noFill/>
          <a:ln w="6350">
            <a:solidFill>
              <a:srgbClr val="DCD8CE"/>
            </a:solidFill>
            <a:prstDash val="solid"/>
          </a:ln>
        </p:spPr>
      </p:sp>
      <p:sp>
        <p:nvSpPr>
          <p:cNvPr id="34" name="Shape 26"/>
          <p:cNvSpPr/>
          <p:nvPr/>
        </p:nvSpPr>
        <p:spPr>
          <a:xfrm>
            <a:off x="8382000" y="1678781"/>
            <a:ext cx="304800" cy="304800"/>
          </a:xfrm>
          <a:prstGeom prst="roundRect">
            <a:avLst>
              <a:gd name="adj" fmla="val 25000"/>
            </a:avLst>
          </a:prstGeom>
          <a:solidFill>
            <a:srgbClr val="E9F0F1"/>
          </a:solidFill>
          <a:ln/>
        </p:spPr>
      </p:sp>
      <p:pic>
        <p:nvPicPr>
          <p:cNvPr id="35" name="Image 6" descr="Code">    </p:cNvPr>
          <p:cNvPicPr>
            <a:picLocks noChangeAspect="1"/>
          </p:cNvPicPr>
          <p:nvPr/>
        </p:nvPicPr>
        <p:blipFill>
          <a:blip r:embed="rId7"/>
          <a:srcRect l="0" r="0" t="0" b="0"/>
          <a:stretch/>
        </p:blipFill>
        <p:spPr>
          <a:xfrm>
            <a:off x="8445500" y="1742281"/>
            <a:ext cx="177800" cy="177800"/>
          </a:xfrm>
          <a:prstGeom prst="rect">
            <a:avLst/>
          </a:prstGeom>
        </p:spPr>
      </p:pic>
      <p:sp>
        <p:nvSpPr>
          <p:cNvPr id="36" name="Text 27"/>
          <p:cNvSpPr/>
          <p:nvPr/>
        </p:nvSpPr>
        <p:spPr>
          <a:xfrm>
            <a:off x="8788400" y="1724521"/>
            <a:ext cx="1066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B5E"/>
                </a:solidFill>
                <a:latin typeface="IBM Plex Sans" pitchFamily="34" charset="0"/>
                <a:ea typeface="IBM Plex Sans" pitchFamily="34" charset="-122"/>
                <a:cs typeface="IBM Plex Sans" pitchFamily="34" charset="-120"/>
              </a:rPr>
              <a:t>Backend</a:t>
            </a:r>
            <a:endParaRPr lang="en-US" sz="1200" dirty="0"/>
          </a:p>
        </p:txBody>
      </p:sp>
      <p:sp>
        <p:nvSpPr>
          <p:cNvPr id="37" name="Text 28"/>
          <p:cNvSpPr/>
          <p:nvPr/>
        </p:nvSpPr>
        <p:spPr>
          <a:xfrm>
            <a:off x="9906000" y="1724521"/>
            <a:ext cx="17528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Python 3 · FastAPI</a:t>
            </a:r>
            <a:endParaRPr lang="en-US" sz="1200" dirty="0"/>
          </a:p>
        </p:txBody>
      </p:sp>
      <p:sp>
        <p:nvSpPr>
          <p:cNvPr id="38" name="Shape 29"/>
          <p:cNvSpPr/>
          <p:nvPr/>
        </p:nvSpPr>
        <p:spPr>
          <a:xfrm>
            <a:off x="8356600" y="2488406"/>
            <a:ext cx="3276600" cy="0"/>
          </a:xfrm>
          <a:prstGeom prst="line">
            <a:avLst/>
          </a:prstGeom>
          <a:noFill/>
          <a:ln w="6350">
            <a:solidFill>
              <a:srgbClr val="DCD8CE"/>
            </a:solidFill>
            <a:prstDash val="solid"/>
          </a:ln>
        </p:spPr>
      </p:sp>
      <p:sp>
        <p:nvSpPr>
          <p:cNvPr id="39" name="Shape 30"/>
          <p:cNvSpPr/>
          <p:nvPr/>
        </p:nvSpPr>
        <p:spPr>
          <a:xfrm>
            <a:off x="8382000" y="2116931"/>
            <a:ext cx="304800" cy="304800"/>
          </a:xfrm>
          <a:prstGeom prst="roundRect">
            <a:avLst>
              <a:gd name="adj" fmla="val 25000"/>
            </a:avLst>
          </a:prstGeom>
          <a:solidFill>
            <a:srgbClr val="FBF1E8"/>
          </a:solidFill>
          <a:ln/>
        </p:spPr>
      </p:sp>
      <p:pic>
        <p:nvPicPr>
          <p:cNvPr id="40" name="Image 7" descr="Activity">    </p:cNvPr>
          <p:cNvPicPr>
            <a:picLocks noChangeAspect="1"/>
          </p:cNvPicPr>
          <p:nvPr/>
        </p:nvPicPr>
        <p:blipFill>
          <a:blip r:embed="rId8"/>
          <a:srcRect l="0" r="0" t="0" b="0"/>
          <a:stretch/>
        </p:blipFill>
        <p:spPr>
          <a:xfrm>
            <a:off x="8445500" y="2180431"/>
            <a:ext cx="177800" cy="177800"/>
          </a:xfrm>
          <a:prstGeom prst="rect">
            <a:avLst/>
          </a:prstGeom>
        </p:spPr>
      </p:pic>
      <p:sp>
        <p:nvSpPr>
          <p:cNvPr id="41" name="Text 31"/>
          <p:cNvSpPr/>
          <p:nvPr/>
        </p:nvSpPr>
        <p:spPr>
          <a:xfrm>
            <a:off x="8788400" y="2162671"/>
            <a:ext cx="1066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B5E"/>
                </a:solidFill>
                <a:latin typeface="IBM Plex Sans" pitchFamily="34" charset="0"/>
                <a:ea typeface="IBM Plex Sans" pitchFamily="34" charset="-122"/>
                <a:cs typeface="IBM Plex Sans" pitchFamily="34" charset="-120"/>
              </a:rPr>
              <a:t>Collecte</a:t>
            </a:r>
            <a:endParaRPr lang="en-US" sz="1200" dirty="0"/>
          </a:p>
        </p:txBody>
      </p:sp>
      <p:sp>
        <p:nvSpPr>
          <p:cNvPr id="42" name="Text 32"/>
          <p:cNvSpPr/>
          <p:nvPr/>
        </p:nvSpPr>
        <p:spPr>
          <a:xfrm>
            <a:off x="9906000" y="2162671"/>
            <a:ext cx="17528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PySNMP · APScheduler</a:t>
            </a:r>
            <a:endParaRPr lang="en-US" sz="1200" dirty="0"/>
          </a:p>
        </p:txBody>
      </p:sp>
      <p:sp>
        <p:nvSpPr>
          <p:cNvPr id="43" name="Shape 33"/>
          <p:cNvSpPr/>
          <p:nvPr/>
        </p:nvSpPr>
        <p:spPr>
          <a:xfrm>
            <a:off x="8356600" y="2926556"/>
            <a:ext cx="3276600" cy="0"/>
          </a:xfrm>
          <a:prstGeom prst="line">
            <a:avLst/>
          </a:prstGeom>
          <a:noFill/>
          <a:ln w="6350">
            <a:solidFill>
              <a:srgbClr val="DCD8CE"/>
            </a:solidFill>
            <a:prstDash val="solid"/>
          </a:ln>
        </p:spPr>
      </p:sp>
      <p:sp>
        <p:nvSpPr>
          <p:cNvPr id="44" name="Shape 34"/>
          <p:cNvSpPr/>
          <p:nvPr/>
        </p:nvSpPr>
        <p:spPr>
          <a:xfrm>
            <a:off x="8382000" y="2555081"/>
            <a:ext cx="304800" cy="304800"/>
          </a:xfrm>
          <a:prstGeom prst="roundRect">
            <a:avLst>
              <a:gd name="adj" fmla="val 25000"/>
            </a:avLst>
          </a:prstGeom>
          <a:solidFill>
            <a:srgbClr val="E9F0F1"/>
          </a:solidFill>
          <a:ln/>
        </p:spPr>
      </p:sp>
      <p:pic>
        <p:nvPicPr>
          <p:cNvPr id="45" name="Image 8" descr="Database">    </p:cNvPr>
          <p:cNvPicPr>
            <a:picLocks noChangeAspect="1"/>
          </p:cNvPicPr>
          <p:nvPr/>
        </p:nvPicPr>
        <p:blipFill>
          <a:blip r:embed="rId9"/>
          <a:srcRect l="0" r="0" t="0" b="0"/>
          <a:stretch/>
        </p:blipFill>
        <p:spPr>
          <a:xfrm>
            <a:off x="8445500" y="2618581"/>
            <a:ext cx="177800" cy="177800"/>
          </a:xfrm>
          <a:prstGeom prst="rect">
            <a:avLst/>
          </a:prstGeom>
        </p:spPr>
      </p:pic>
      <p:sp>
        <p:nvSpPr>
          <p:cNvPr id="46" name="Text 35"/>
          <p:cNvSpPr/>
          <p:nvPr/>
        </p:nvSpPr>
        <p:spPr>
          <a:xfrm>
            <a:off x="8788400" y="2600821"/>
            <a:ext cx="1066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B5E"/>
                </a:solidFill>
                <a:latin typeface="IBM Plex Sans" pitchFamily="34" charset="0"/>
                <a:ea typeface="IBM Plex Sans" pitchFamily="34" charset="-122"/>
                <a:cs typeface="IBM Plex Sans" pitchFamily="34" charset="-120"/>
              </a:rPr>
              <a:t>Données</a:t>
            </a:r>
            <a:endParaRPr lang="en-US" sz="1200" dirty="0"/>
          </a:p>
        </p:txBody>
      </p:sp>
      <p:sp>
        <p:nvSpPr>
          <p:cNvPr id="47" name="Text 36"/>
          <p:cNvSpPr/>
          <p:nvPr/>
        </p:nvSpPr>
        <p:spPr>
          <a:xfrm>
            <a:off x="9906000" y="2600821"/>
            <a:ext cx="17528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SQLite</a:t>
            </a:r>
            <a:endParaRPr lang="en-US" sz="1200" dirty="0"/>
          </a:p>
        </p:txBody>
      </p:sp>
      <p:sp>
        <p:nvSpPr>
          <p:cNvPr id="48" name="Shape 37"/>
          <p:cNvSpPr/>
          <p:nvPr/>
        </p:nvSpPr>
        <p:spPr>
          <a:xfrm>
            <a:off x="8356600" y="3364706"/>
            <a:ext cx="3276600" cy="0"/>
          </a:xfrm>
          <a:prstGeom prst="line">
            <a:avLst/>
          </a:prstGeom>
          <a:noFill/>
          <a:ln w="6350">
            <a:solidFill>
              <a:srgbClr val="DCD8CE"/>
            </a:solidFill>
            <a:prstDash val="solid"/>
          </a:ln>
        </p:spPr>
      </p:sp>
      <p:sp>
        <p:nvSpPr>
          <p:cNvPr id="49" name="Shape 38"/>
          <p:cNvSpPr/>
          <p:nvPr/>
        </p:nvSpPr>
        <p:spPr>
          <a:xfrm>
            <a:off x="8382000" y="2993231"/>
            <a:ext cx="304800" cy="304800"/>
          </a:xfrm>
          <a:prstGeom prst="roundRect">
            <a:avLst>
              <a:gd name="adj" fmla="val 25000"/>
            </a:avLst>
          </a:prstGeom>
          <a:solidFill>
            <a:srgbClr val="E9F0F1"/>
          </a:solidFill>
          <a:ln/>
        </p:spPr>
      </p:sp>
      <p:pic>
        <p:nvPicPr>
          <p:cNvPr id="50" name="Image 9" descr="Chart">    </p:cNvPr>
          <p:cNvPicPr>
            <a:picLocks noChangeAspect="1"/>
          </p:cNvPicPr>
          <p:nvPr/>
        </p:nvPicPr>
        <p:blipFill>
          <a:blip r:embed="rId10"/>
          <a:srcRect l="0" r="0" t="0" b="0"/>
          <a:stretch/>
        </p:blipFill>
        <p:spPr>
          <a:xfrm>
            <a:off x="8445500" y="3056731"/>
            <a:ext cx="177800" cy="177800"/>
          </a:xfrm>
          <a:prstGeom prst="rect">
            <a:avLst/>
          </a:prstGeom>
        </p:spPr>
      </p:pic>
      <p:sp>
        <p:nvSpPr>
          <p:cNvPr id="51" name="Text 39"/>
          <p:cNvSpPr/>
          <p:nvPr/>
        </p:nvSpPr>
        <p:spPr>
          <a:xfrm>
            <a:off x="8788400" y="3038971"/>
            <a:ext cx="1066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B5E"/>
                </a:solidFill>
                <a:latin typeface="IBM Plex Sans" pitchFamily="34" charset="0"/>
                <a:ea typeface="IBM Plex Sans" pitchFamily="34" charset="-122"/>
                <a:cs typeface="IBM Plex Sans" pitchFamily="34" charset="-120"/>
              </a:rPr>
              <a:t>Interface</a:t>
            </a:r>
            <a:endParaRPr lang="en-US" sz="1200" dirty="0"/>
          </a:p>
        </p:txBody>
      </p:sp>
      <p:sp>
        <p:nvSpPr>
          <p:cNvPr id="52" name="Text 40"/>
          <p:cNvSpPr/>
          <p:nvPr/>
        </p:nvSpPr>
        <p:spPr>
          <a:xfrm>
            <a:off x="9906000" y="3038971"/>
            <a:ext cx="17528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Jinja2 · Chart.js</a:t>
            </a:r>
            <a:endParaRPr lang="en-US" sz="1200" dirty="0"/>
          </a:p>
        </p:txBody>
      </p:sp>
      <p:sp>
        <p:nvSpPr>
          <p:cNvPr id="53" name="Shape 41"/>
          <p:cNvSpPr/>
          <p:nvPr/>
        </p:nvSpPr>
        <p:spPr>
          <a:xfrm>
            <a:off x="8356600" y="3802856"/>
            <a:ext cx="3276600" cy="0"/>
          </a:xfrm>
          <a:prstGeom prst="line">
            <a:avLst/>
          </a:prstGeom>
          <a:noFill/>
          <a:ln w="6350">
            <a:solidFill>
              <a:srgbClr val="DCD8CE"/>
            </a:solidFill>
            <a:prstDash val="solid"/>
          </a:ln>
        </p:spPr>
      </p:sp>
      <p:sp>
        <p:nvSpPr>
          <p:cNvPr id="54" name="Shape 42"/>
          <p:cNvSpPr/>
          <p:nvPr/>
        </p:nvSpPr>
        <p:spPr>
          <a:xfrm>
            <a:off x="8382000" y="3431381"/>
            <a:ext cx="304800" cy="304800"/>
          </a:xfrm>
          <a:prstGeom prst="roundRect">
            <a:avLst>
              <a:gd name="adj" fmla="val 25000"/>
            </a:avLst>
          </a:prstGeom>
          <a:solidFill>
            <a:srgbClr val="E9F0F1"/>
          </a:solidFill>
          <a:ln/>
        </p:spPr>
      </p:sp>
      <p:pic>
        <p:nvPicPr>
          <p:cNvPr id="55" name="Image 10" descr="Settings">    </p:cNvPr>
          <p:cNvPicPr>
            <a:picLocks noChangeAspect="1"/>
          </p:cNvPicPr>
          <p:nvPr/>
        </p:nvPicPr>
        <p:blipFill>
          <a:blip r:embed="rId11"/>
          <a:srcRect l="0" r="0" t="0" b="0"/>
          <a:stretch/>
        </p:blipFill>
        <p:spPr>
          <a:xfrm>
            <a:off x="8445500" y="3494881"/>
            <a:ext cx="177800" cy="177800"/>
          </a:xfrm>
          <a:prstGeom prst="rect">
            <a:avLst/>
          </a:prstGeom>
        </p:spPr>
      </p:pic>
      <p:sp>
        <p:nvSpPr>
          <p:cNvPr id="56" name="Text 43"/>
          <p:cNvSpPr/>
          <p:nvPr/>
        </p:nvSpPr>
        <p:spPr>
          <a:xfrm>
            <a:off x="8788400" y="3477121"/>
            <a:ext cx="1066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B5E"/>
                </a:solidFill>
                <a:latin typeface="IBM Plex Sans" pitchFamily="34" charset="0"/>
                <a:ea typeface="IBM Plex Sans" pitchFamily="34" charset="-122"/>
                <a:cs typeface="IBM Plex Sans" pitchFamily="34" charset="-120"/>
              </a:rPr>
              <a:t>Déploiement</a:t>
            </a:r>
            <a:endParaRPr lang="en-US" sz="1200" dirty="0"/>
          </a:p>
        </p:txBody>
      </p:sp>
      <p:sp>
        <p:nvSpPr>
          <p:cNvPr id="57" name="Text 44"/>
          <p:cNvSpPr/>
          <p:nvPr/>
        </p:nvSpPr>
        <p:spPr>
          <a:xfrm>
            <a:off x="9906000" y="3477121"/>
            <a:ext cx="17528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Docker</a:t>
            </a:r>
            <a:endParaRPr lang="en-US" sz="1200" dirty="0"/>
          </a:p>
        </p:txBody>
      </p:sp>
      <p:sp>
        <p:nvSpPr>
          <p:cNvPr id="58" name="Shape 45"/>
          <p:cNvSpPr/>
          <p:nvPr/>
        </p:nvSpPr>
        <p:spPr>
          <a:xfrm>
            <a:off x="8382000" y="3869531"/>
            <a:ext cx="304800" cy="304800"/>
          </a:xfrm>
          <a:prstGeom prst="roundRect">
            <a:avLst>
              <a:gd name="adj" fmla="val 25000"/>
            </a:avLst>
          </a:prstGeom>
          <a:solidFill>
            <a:srgbClr val="E9F0F1"/>
          </a:solidFill>
          <a:ln/>
        </p:spPr>
      </p:sp>
      <p:pic>
        <p:nvPicPr>
          <p:cNvPr id="59" name="Image 11" descr="Clock">    </p:cNvPr>
          <p:cNvPicPr>
            <a:picLocks noChangeAspect="1"/>
          </p:cNvPicPr>
          <p:nvPr/>
        </p:nvPicPr>
        <p:blipFill>
          <a:blip r:embed="rId12"/>
          <a:srcRect l="0" r="0" t="0" b="0"/>
          <a:stretch/>
        </p:blipFill>
        <p:spPr>
          <a:xfrm>
            <a:off x="8445500" y="3933031"/>
            <a:ext cx="177800" cy="177800"/>
          </a:xfrm>
          <a:prstGeom prst="rect">
            <a:avLst/>
          </a:prstGeom>
        </p:spPr>
      </p:pic>
      <p:sp>
        <p:nvSpPr>
          <p:cNvPr id="60" name="Text 46"/>
          <p:cNvSpPr/>
          <p:nvPr/>
        </p:nvSpPr>
        <p:spPr>
          <a:xfrm>
            <a:off x="8788400" y="3915271"/>
            <a:ext cx="1066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B5E"/>
                </a:solidFill>
                <a:latin typeface="IBM Plex Sans" pitchFamily="34" charset="0"/>
                <a:ea typeface="IBM Plex Sans" pitchFamily="34" charset="-122"/>
                <a:cs typeface="IBM Plex Sans" pitchFamily="34" charset="-120"/>
              </a:rPr>
              <a:t>Versioning</a:t>
            </a:r>
            <a:endParaRPr lang="en-US" sz="1200" dirty="0"/>
          </a:p>
        </p:txBody>
      </p:sp>
      <p:sp>
        <p:nvSpPr>
          <p:cNvPr id="61" name="Text 47"/>
          <p:cNvSpPr/>
          <p:nvPr/>
        </p:nvSpPr>
        <p:spPr>
          <a:xfrm>
            <a:off x="9906000" y="3915271"/>
            <a:ext cx="17528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GitHub</a:t>
            </a:r>
            <a:endParaRPr lang="en-US" sz="1200" dirty="0"/>
          </a:p>
        </p:txBody>
      </p:sp>
      <p:sp>
        <p:nvSpPr>
          <p:cNvPr id="62" name="Text 48"/>
          <p:cNvSpPr/>
          <p:nvPr/>
        </p:nvSpPr>
        <p:spPr>
          <a:xfrm>
            <a:off x="558800" y="4610001"/>
            <a:ext cx="1140663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33A"/>
                </a:solidFill>
                <a:latin typeface="IBM Plex Sans" pitchFamily="34" charset="0"/>
                <a:ea typeface="IBM Plex Sans" pitchFamily="34" charset="-122"/>
                <a:cs typeface="IBM Plex Sans" pitchFamily="34" charset="-120"/>
              </a:rPr>
              <a:t>Cycle de collecte, pour chaque équipement à intervalle régulier</a:t>
            </a:r>
            <a:endParaRPr lang="en-US" sz="1600" dirty="0"/>
          </a:p>
        </p:txBody>
      </p:sp>
      <p:sp>
        <p:nvSpPr>
          <p:cNvPr id="63" name="Shape 49"/>
          <p:cNvSpPr/>
          <p:nvPr/>
        </p:nvSpPr>
        <p:spPr>
          <a:xfrm>
            <a:off x="565150" y="4949031"/>
            <a:ext cx="1536700" cy="1041102"/>
          </a:xfrm>
          <a:prstGeom prst="roundRect">
            <a:avLst>
              <a:gd name="adj" fmla="val 7929"/>
            </a:avLst>
          </a:prstGeom>
          <a:solidFill>
            <a:srgbClr val="FBF1E8"/>
          </a:solidFill>
          <a:ln w="12700">
            <a:solidFill>
              <a:srgbClr val="E6C3A5"/>
            </a:solidFill>
            <a:prstDash val="solid"/>
          </a:ln>
        </p:spPr>
      </p:sp>
      <p:sp>
        <p:nvSpPr>
          <p:cNvPr id="64" name="Text 50"/>
          <p:cNvSpPr/>
          <p:nvPr/>
        </p:nvSpPr>
        <p:spPr>
          <a:xfrm>
            <a:off x="673100" y="5044281"/>
            <a:ext cx="13716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45514"/>
                </a:solidFill>
                <a:latin typeface="IBM Plex Sans" pitchFamily="34" charset="0"/>
                <a:ea typeface="IBM Plex Sans" pitchFamily="34" charset="-122"/>
                <a:cs typeface="IBM Plex Sans" pitchFamily="34" charset="-120"/>
              </a:rPr>
              <a:t>1 · Planifier</a:t>
            </a:r>
            <a:endParaRPr lang="en-US" sz="1300" dirty="0"/>
          </a:p>
        </p:txBody>
      </p:sp>
      <p:sp>
        <p:nvSpPr>
          <p:cNvPr id="65" name="Text 51"/>
          <p:cNvSpPr/>
          <p:nvPr/>
        </p:nvSpPr>
        <p:spPr>
          <a:xfrm>
            <a:off x="673100" y="5300762"/>
            <a:ext cx="1371600"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4B5E"/>
                </a:solidFill>
                <a:latin typeface="IBM Plex Sans" pitchFamily="34" charset="0"/>
                <a:ea typeface="IBM Plex Sans" pitchFamily="34" charset="-122"/>
                <a:cs typeface="IBM Plex Sans" pitchFamily="34" charset="-120"/>
              </a:rPr>
              <a:t>APScheduler lance l'interrogation</a:t>
            </a:r>
            <a:endParaRPr lang="en-US" sz="1200" dirty="0"/>
          </a:p>
        </p:txBody>
      </p:sp>
      <p:pic>
        <p:nvPicPr>
          <p:cNvPr id="66" name="Image 12" descr="connector">    </p:cNvPr>
          <p:cNvPicPr>
            <a:picLocks noChangeAspect="1"/>
          </p:cNvPicPr>
          <p:nvPr/>
        </p:nvPicPr>
        <p:blipFill>
          <a:blip r:embed="rId13"/>
          <a:srcRect l="0" r="0" t="0" b="0"/>
          <a:stretch/>
        </p:blipFill>
        <p:spPr>
          <a:xfrm>
            <a:off x="2184400" y="5431433"/>
            <a:ext cx="203200" cy="76200"/>
          </a:xfrm>
          <a:prstGeom prst="rect">
            <a:avLst/>
          </a:prstGeom>
        </p:spPr>
      </p:pic>
      <p:sp>
        <p:nvSpPr>
          <p:cNvPr id="67" name="Shape 52"/>
          <p:cNvSpPr/>
          <p:nvPr/>
        </p:nvSpPr>
        <p:spPr>
          <a:xfrm>
            <a:off x="2470150" y="4949031"/>
            <a:ext cx="1536700" cy="1041102"/>
          </a:xfrm>
          <a:prstGeom prst="roundRect">
            <a:avLst>
              <a:gd name="adj" fmla="val 7929"/>
            </a:avLst>
          </a:prstGeom>
          <a:solidFill>
            <a:srgbClr val="FBF1E8"/>
          </a:solidFill>
          <a:ln w="12700">
            <a:solidFill>
              <a:srgbClr val="E6C3A5"/>
            </a:solidFill>
            <a:prstDash val="solid"/>
          </a:ln>
        </p:spPr>
      </p:sp>
      <p:sp>
        <p:nvSpPr>
          <p:cNvPr id="68" name="Text 53"/>
          <p:cNvSpPr/>
          <p:nvPr/>
        </p:nvSpPr>
        <p:spPr>
          <a:xfrm>
            <a:off x="2578100" y="5044281"/>
            <a:ext cx="13716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45514"/>
                </a:solidFill>
                <a:latin typeface="IBM Plex Sans" pitchFamily="34" charset="0"/>
                <a:ea typeface="IBM Plex Sans" pitchFamily="34" charset="-122"/>
                <a:cs typeface="IBM Plex Sans" pitchFamily="34" charset="-120"/>
              </a:rPr>
              <a:t>2 · Interroger</a:t>
            </a:r>
            <a:endParaRPr lang="en-US" sz="1300" dirty="0"/>
          </a:p>
        </p:txBody>
      </p:sp>
      <p:sp>
        <p:nvSpPr>
          <p:cNvPr id="69" name="Text 54"/>
          <p:cNvSpPr/>
          <p:nvPr/>
        </p:nvSpPr>
        <p:spPr>
          <a:xfrm>
            <a:off x="2578100" y="5300762"/>
            <a:ext cx="1371600" cy="619522"/>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4B5E"/>
                </a:solidFill>
                <a:latin typeface="IBM Plex Sans" pitchFamily="34" charset="0"/>
                <a:ea typeface="IBM Plex Sans" pitchFamily="34" charset="-122"/>
                <a:cs typeface="IBM Plex Sans" pitchFamily="34" charset="-120"/>
              </a:rPr>
              <a:t>GET des OID du modèle de supervision</a:t>
            </a:r>
            <a:endParaRPr lang="en-US" sz="1200" dirty="0"/>
          </a:p>
        </p:txBody>
      </p:sp>
      <p:pic>
        <p:nvPicPr>
          <p:cNvPr id="70" name="Image 13" descr="connector">    </p:cNvPr>
          <p:cNvPicPr>
            <a:picLocks noChangeAspect="1"/>
          </p:cNvPicPr>
          <p:nvPr/>
        </p:nvPicPr>
        <p:blipFill>
          <a:blip r:embed="rId14"/>
          <a:srcRect l="0" r="0" t="0" b="0"/>
          <a:stretch/>
        </p:blipFill>
        <p:spPr>
          <a:xfrm>
            <a:off x="4089400" y="5431433"/>
            <a:ext cx="203200" cy="76200"/>
          </a:xfrm>
          <a:prstGeom prst="rect">
            <a:avLst/>
          </a:prstGeom>
        </p:spPr>
      </p:pic>
      <p:sp>
        <p:nvSpPr>
          <p:cNvPr id="71" name="Shape 55"/>
          <p:cNvSpPr/>
          <p:nvPr/>
        </p:nvSpPr>
        <p:spPr>
          <a:xfrm>
            <a:off x="4375150" y="4949031"/>
            <a:ext cx="1536700" cy="1041102"/>
          </a:xfrm>
          <a:prstGeom prst="roundRect">
            <a:avLst>
              <a:gd name="adj" fmla="val 7929"/>
            </a:avLst>
          </a:prstGeom>
          <a:solidFill>
            <a:srgbClr val="FBF1E8"/>
          </a:solidFill>
          <a:ln w="12700">
            <a:solidFill>
              <a:srgbClr val="E6C3A5"/>
            </a:solidFill>
            <a:prstDash val="solid"/>
          </a:ln>
        </p:spPr>
      </p:sp>
      <p:sp>
        <p:nvSpPr>
          <p:cNvPr id="72" name="Text 56"/>
          <p:cNvSpPr/>
          <p:nvPr/>
        </p:nvSpPr>
        <p:spPr>
          <a:xfrm>
            <a:off x="4483100" y="5044281"/>
            <a:ext cx="13716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45514"/>
                </a:solidFill>
                <a:latin typeface="IBM Plex Sans" pitchFamily="34" charset="0"/>
                <a:ea typeface="IBM Plex Sans" pitchFamily="34" charset="-122"/>
                <a:cs typeface="IBM Plex Sans" pitchFamily="34" charset="-120"/>
              </a:rPr>
              <a:t>3 · Contrôler</a:t>
            </a:r>
            <a:endParaRPr lang="en-US" sz="1300" dirty="0"/>
          </a:p>
        </p:txBody>
      </p:sp>
      <p:sp>
        <p:nvSpPr>
          <p:cNvPr id="73" name="Text 57"/>
          <p:cNvSpPr/>
          <p:nvPr/>
        </p:nvSpPr>
        <p:spPr>
          <a:xfrm>
            <a:off x="4483100" y="5300762"/>
            <a:ext cx="1371600"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4B5E"/>
                </a:solidFill>
                <a:latin typeface="IBM Plex Sans" pitchFamily="34" charset="0"/>
                <a:ea typeface="IBM Plex Sans" pitchFamily="34" charset="-122"/>
                <a:cs typeface="IBM Plex Sans" pitchFamily="34" charset="-120"/>
              </a:rPr>
              <a:t>réponse valide, valeur cohérente</a:t>
            </a:r>
            <a:endParaRPr lang="en-US" sz="1200" dirty="0"/>
          </a:p>
        </p:txBody>
      </p:sp>
      <p:pic>
        <p:nvPicPr>
          <p:cNvPr id="74" name="Image 14" descr="connector">    </p:cNvPr>
          <p:cNvPicPr>
            <a:picLocks noChangeAspect="1"/>
          </p:cNvPicPr>
          <p:nvPr/>
        </p:nvPicPr>
        <p:blipFill>
          <a:blip r:embed="rId15"/>
          <a:srcRect l="0" r="0" t="0" b="0"/>
          <a:stretch/>
        </p:blipFill>
        <p:spPr>
          <a:xfrm>
            <a:off x="5994400" y="5431433"/>
            <a:ext cx="203200" cy="76200"/>
          </a:xfrm>
          <a:prstGeom prst="rect">
            <a:avLst/>
          </a:prstGeom>
        </p:spPr>
      </p:pic>
      <p:sp>
        <p:nvSpPr>
          <p:cNvPr id="75" name="Shape 58"/>
          <p:cNvSpPr/>
          <p:nvPr/>
        </p:nvSpPr>
        <p:spPr>
          <a:xfrm>
            <a:off x="6280150" y="4949031"/>
            <a:ext cx="1536700" cy="1041102"/>
          </a:xfrm>
          <a:prstGeom prst="roundRect">
            <a:avLst>
              <a:gd name="adj" fmla="val 7929"/>
            </a:avLst>
          </a:prstGeom>
          <a:solidFill>
            <a:srgbClr val="FBF1E8"/>
          </a:solidFill>
          <a:ln w="12700">
            <a:solidFill>
              <a:srgbClr val="E6C3A5"/>
            </a:solidFill>
            <a:prstDash val="solid"/>
          </a:ln>
        </p:spPr>
      </p:sp>
      <p:sp>
        <p:nvSpPr>
          <p:cNvPr id="76" name="Text 59"/>
          <p:cNvSpPr/>
          <p:nvPr/>
        </p:nvSpPr>
        <p:spPr>
          <a:xfrm>
            <a:off x="6388100" y="5044281"/>
            <a:ext cx="13716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45514"/>
                </a:solidFill>
                <a:latin typeface="IBM Plex Sans" pitchFamily="34" charset="0"/>
                <a:ea typeface="IBM Plex Sans" pitchFamily="34" charset="-122"/>
                <a:cs typeface="IBM Plex Sans" pitchFamily="34" charset="-120"/>
              </a:rPr>
              <a:t>4 · Calculer</a:t>
            </a:r>
            <a:endParaRPr lang="en-US" sz="1300" dirty="0"/>
          </a:p>
        </p:txBody>
      </p:sp>
      <p:sp>
        <p:nvSpPr>
          <p:cNvPr id="77" name="Text 60"/>
          <p:cNvSpPr/>
          <p:nvPr/>
        </p:nvSpPr>
        <p:spPr>
          <a:xfrm>
            <a:off x="6388100" y="5300762"/>
            <a:ext cx="1371600"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4B5E"/>
                </a:solidFill>
                <a:latin typeface="IBM Plex Sans" pitchFamily="34" charset="0"/>
                <a:ea typeface="IBM Plex Sans" pitchFamily="34" charset="-122"/>
                <a:cs typeface="IBM Plex Sans" pitchFamily="34" charset="-120"/>
              </a:rPr>
              <a:t>valeur dérivée si besoin (ex. débit)</a:t>
            </a:r>
            <a:endParaRPr lang="en-US" sz="1200" dirty="0"/>
          </a:p>
        </p:txBody>
      </p:sp>
      <p:pic>
        <p:nvPicPr>
          <p:cNvPr id="78" name="Image 15" descr="connector">    </p:cNvPr>
          <p:cNvPicPr>
            <a:picLocks noChangeAspect="1"/>
          </p:cNvPicPr>
          <p:nvPr/>
        </p:nvPicPr>
        <p:blipFill>
          <a:blip r:embed="rId16"/>
          <a:srcRect l="0" r="0" t="0" b="0"/>
          <a:stretch/>
        </p:blipFill>
        <p:spPr>
          <a:xfrm>
            <a:off x="7899400" y="5431433"/>
            <a:ext cx="203200" cy="76200"/>
          </a:xfrm>
          <a:prstGeom prst="rect">
            <a:avLst/>
          </a:prstGeom>
        </p:spPr>
      </p:pic>
      <p:sp>
        <p:nvSpPr>
          <p:cNvPr id="79" name="Shape 61"/>
          <p:cNvSpPr/>
          <p:nvPr/>
        </p:nvSpPr>
        <p:spPr>
          <a:xfrm>
            <a:off x="8185150" y="4949031"/>
            <a:ext cx="1536700" cy="1041102"/>
          </a:xfrm>
          <a:prstGeom prst="roundRect">
            <a:avLst>
              <a:gd name="adj" fmla="val 7929"/>
            </a:avLst>
          </a:prstGeom>
          <a:solidFill>
            <a:srgbClr val="FBF1E8"/>
          </a:solidFill>
          <a:ln w="12700">
            <a:solidFill>
              <a:srgbClr val="E6C3A5"/>
            </a:solidFill>
            <a:prstDash val="solid"/>
          </a:ln>
        </p:spPr>
      </p:sp>
      <p:sp>
        <p:nvSpPr>
          <p:cNvPr id="80" name="Text 62"/>
          <p:cNvSpPr/>
          <p:nvPr/>
        </p:nvSpPr>
        <p:spPr>
          <a:xfrm>
            <a:off x="8293100" y="5044281"/>
            <a:ext cx="13716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45514"/>
                </a:solidFill>
                <a:latin typeface="IBM Plex Sans" pitchFamily="34" charset="0"/>
                <a:ea typeface="IBM Plex Sans" pitchFamily="34" charset="-122"/>
                <a:cs typeface="IBM Plex Sans" pitchFamily="34" charset="-120"/>
              </a:rPr>
              <a:t>5 · Évaluer</a:t>
            </a:r>
            <a:endParaRPr lang="en-US" sz="1300" dirty="0"/>
          </a:p>
        </p:txBody>
      </p:sp>
      <p:sp>
        <p:nvSpPr>
          <p:cNvPr id="81" name="Text 63"/>
          <p:cNvSpPr/>
          <p:nvPr/>
        </p:nvSpPr>
        <p:spPr>
          <a:xfrm>
            <a:off x="8293100" y="5300762"/>
            <a:ext cx="1371600"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4B5E"/>
                </a:solidFill>
                <a:latin typeface="IBM Plex Sans" pitchFamily="34" charset="0"/>
                <a:ea typeface="IBM Plex Sans" pitchFamily="34" charset="-122"/>
                <a:cs typeface="IBM Plex Sans" pitchFamily="34" charset="-120"/>
              </a:rPr>
              <a:t>seuil dépassé ou panne → alerte</a:t>
            </a:r>
            <a:endParaRPr lang="en-US" sz="1200" dirty="0"/>
          </a:p>
        </p:txBody>
      </p:sp>
      <p:pic>
        <p:nvPicPr>
          <p:cNvPr id="82" name="Image 16" descr="connector">    </p:cNvPr>
          <p:cNvPicPr>
            <a:picLocks noChangeAspect="1"/>
          </p:cNvPicPr>
          <p:nvPr/>
        </p:nvPicPr>
        <p:blipFill>
          <a:blip r:embed="rId17"/>
          <a:srcRect l="0" r="0" t="0" b="0"/>
          <a:stretch/>
        </p:blipFill>
        <p:spPr>
          <a:xfrm>
            <a:off x="9804400" y="5431433"/>
            <a:ext cx="203200" cy="76200"/>
          </a:xfrm>
          <a:prstGeom prst="rect">
            <a:avLst/>
          </a:prstGeom>
        </p:spPr>
      </p:pic>
      <p:sp>
        <p:nvSpPr>
          <p:cNvPr id="83" name="Shape 64"/>
          <p:cNvSpPr/>
          <p:nvPr/>
        </p:nvSpPr>
        <p:spPr>
          <a:xfrm>
            <a:off x="10090150" y="4949031"/>
            <a:ext cx="1536700" cy="1041102"/>
          </a:xfrm>
          <a:prstGeom prst="roundRect">
            <a:avLst>
              <a:gd name="adj" fmla="val 7929"/>
            </a:avLst>
          </a:prstGeom>
          <a:solidFill>
            <a:srgbClr val="FBF1E8"/>
          </a:solidFill>
          <a:ln w="12700">
            <a:solidFill>
              <a:srgbClr val="E6C3A5"/>
            </a:solidFill>
            <a:prstDash val="solid"/>
          </a:ln>
        </p:spPr>
      </p:sp>
      <p:sp>
        <p:nvSpPr>
          <p:cNvPr id="84" name="Text 65"/>
          <p:cNvSpPr/>
          <p:nvPr/>
        </p:nvSpPr>
        <p:spPr>
          <a:xfrm>
            <a:off x="10198100" y="5044281"/>
            <a:ext cx="13716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45514"/>
                </a:solidFill>
                <a:latin typeface="IBM Plex Sans" pitchFamily="34" charset="0"/>
                <a:ea typeface="IBM Plex Sans" pitchFamily="34" charset="-122"/>
                <a:cs typeface="IBM Plex Sans" pitchFamily="34" charset="-120"/>
              </a:rPr>
              <a:t>6 · Historiser</a:t>
            </a:r>
            <a:endParaRPr lang="en-US" sz="1300" dirty="0"/>
          </a:p>
        </p:txBody>
      </p:sp>
      <p:sp>
        <p:nvSpPr>
          <p:cNvPr id="85" name="Text 66"/>
          <p:cNvSpPr/>
          <p:nvPr/>
        </p:nvSpPr>
        <p:spPr>
          <a:xfrm>
            <a:off x="10198100" y="5300762"/>
            <a:ext cx="1371600"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E4B5E"/>
                </a:solidFill>
                <a:latin typeface="IBM Plex Sans" pitchFamily="34" charset="0"/>
                <a:ea typeface="IBM Plex Sans" pitchFamily="34" charset="-122"/>
                <a:cs typeface="IBM Plex Sans" pitchFamily="34" charset="-120"/>
              </a:rPr>
              <a:t>puis agréger et purger</a:t>
            </a:r>
            <a:endParaRPr lang="en-US" sz="1200" dirty="0"/>
          </a:p>
        </p:txBody>
      </p:sp>
      <p:sp>
        <p:nvSpPr>
          <p:cNvPr id="86" name="Text 67"/>
          <p:cNvSpPr/>
          <p:nvPr/>
        </p:nvSpPr>
        <p:spPr>
          <a:xfrm>
            <a:off x="558800" y="6390680"/>
            <a:ext cx="114066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IBM Plex Sans" pitchFamily="34" charset="0"/>
                <a:ea typeface="IBM Plex Sans" pitchFamily="34" charset="-122"/>
                <a:cs typeface="IBM Plex Sans" pitchFamily="34" charset="-120"/>
              </a:rPr>
              <a:t>Louis ALEXANDRE &amp; Mattis TOINET · M2 TRI, USMB</a:t>
            </a:r>
            <a:endParaRPr lang="en-US" sz="1200" dirty="0"/>
          </a:p>
        </p:txBody>
      </p:sp>
    </p:spTree>
  </p:cSld>
  <p:clrMapOvr>
    <a:masterClrMapping/>
  </p:clrMapOvr>
</p:sld>
</file>

<file path=ppt/theme/theme1.xml><?xml version="1.0" encoding="utf-8"?>
<a:theme xmlns:a="http://schemas.openxmlformats.org/drawingml/2006/main" name="Proposition technique — Supervision SNMP">
  <a:themeElements>
    <a:clrScheme name="Proposition technique — Supervision SNMP">
      <a:dk1>
        <a:srgbClr val="13233A"/>
      </a:dk1>
      <a:lt1>
        <a:srgbClr val="F6F5F1"/>
      </a:lt1>
      <a:dk2>
        <a:srgbClr val="4C5868"/>
      </a:dk2>
      <a:lt2>
        <a:srgbClr val="DFE0DF"/>
      </a:lt2>
      <a:accent1>
        <a:srgbClr val="B45514"/>
      </a:accent1>
      <a:accent2>
        <a:srgbClr val="17707F"/>
      </a:accent2>
      <a:accent3>
        <a:srgbClr val="3E4B5E"/>
      </a:accent3>
      <a:accent4>
        <a:srgbClr val="6A7280"/>
      </a:accent4>
      <a:accent5>
        <a:srgbClr val="9AA0A6"/>
      </a:accent5>
      <a:accent6>
        <a:srgbClr val="6E7783"/>
      </a:accent6>
      <a:hlink>
        <a:srgbClr val="0563C1"/>
      </a:hlink>
      <a:folHlink>
        <a:srgbClr val="954F72"/>
      </a:folHlink>
    </a:clrScheme>
    <a:fontScheme name="Proposition technique — Supervision SNMP">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Proposition technique — Supervision SNMP</dc:title>
  <dc:subject/>
  <dc:creator/>
  <cp:lastModifiedBy/>
  <cp:revision>1</cp:revision>
  <dcterms:created xsi:type="dcterms:W3CDTF">2026-10-01T12:10:11Z</dcterms:created>
  <dcterms:modified xsi:type="dcterms:W3CDTF">2026-10-01T12:10:11Z</dcterms:modified>
</cp:coreProperties>
</file>